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verview" id="{623b253a-ea97-c3e3-c8d4-13db393b9628}">
          <p14:sldIdLst>
            <p14:sldId id="256"/>
            <p14:sldId id="257"/>
          </p14:sldIdLst>
        </p14:section>
        <p14:section name="The journey" id="{2118c1a2-e921-f9b9-cc88-cdc583b7bcc0}">
          <p14:sldIdLst>
            <p14:sldId id="258"/>
            <p14:sldId id="259"/>
            <p14:sldId id="260"/>
            <p14:sldId id="261"/>
            <p14:sldId id="262"/>
          </p14:sldIdLst>
        </p14:section>
        <p14:section name="Wrap-up" id="{911426e5-a003-014d-a644-02103fc87992}">
          <p14:sldIdLst>
            <p14:sldId id="263"/>
            <p14:sldId id="26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1097280"/>
            <a:ext cx="5029200" cy="1828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1371600"/>
            <a:ext cx="50292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1097280"/>
            <a:ext cx="5029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Professional UI/UX Design &amp; Web Prototyping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9718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Virtual Internship Report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47472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Burramukku Varun Sai Reddy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B.Tech (CSE), IILM University, Greater Noida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2519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AICTE – EduSkills Virtual Internship  |  June – August 2026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943600" y="1005840"/>
            <a:ext cx="2743200" cy="2743200"/>
          </a:xfrm>
          <a:prstGeom prst="ellipse">
            <a:avLst/>
          </a:prstGeom>
          <a:solidFill>
            <a:schemeClr val="accent2">
              <a:alpha val="85000"/>
            </a:schemeClr>
          </a:solidFill>
          <a:ln/>
        </p:spPr>
      </p:sp>
      <p:sp>
        <p:nvSpPr>
          <p:cNvPr id="7" name="Shape 5"/>
          <p:cNvSpPr/>
          <p:nvPr/>
        </p:nvSpPr>
        <p:spPr>
          <a:xfrm>
            <a:off x="7498080" y="411480"/>
            <a:ext cx="1188720" cy="11887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0" y="3383280"/>
            <a:ext cx="1280160" cy="1280160"/>
          </a:xfrm>
          <a:prstGeom prst="ellipse">
            <a:avLst/>
          </a:prstGeom>
          <a:solidFill>
            <a:schemeClr val="accent3">
              <a:alpha val="80000"/>
            </a:schemeClr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943600" y="1005840"/>
            <a:ext cx="27432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UI/UX</a:t>
            </a:r>
            <a:endParaRPr lang="en-US" sz="4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Internship at a glance</a:t>
            </a:r>
            <a:endParaRPr lang="en-US" sz="3400" dirty="0"/>
          </a:p>
        </p:txBody>
      </p:sp>
      <p:sp>
        <p:nvSpPr>
          <p:cNvPr id="3" name="stat0"/>
          <p:cNvSpPr/>
          <p:nvPr/>
        </p:nvSpPr>
        <p:spPr>
          <a:xfrm>
            <a:off x="457200" y="1188720"/>
            <a:ext cx="192024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640080" y="128016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tx2"/>
                </a:solidFill>
              </a:rPr>
              <a:t>8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05740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Weeks of structured learning</a:t>
            </a:r>
            <a:endParaRPr lang="en-US" sz="1400" dirty="0"/>
          </a:p>
        </p:txBody>
      </p:sp>
      <p:sp>
        <p:nvSpPr>
          <p:cNvPr id="6" name="stat1"/>
          <p:cNvSpPr/>
          <p:nvPr/>
        </p:nvSpPr>
        <p:spPr>
          <a:xfrm>
            <a:off x="2560320" y="1188720"/>
            <a:ext cx="192024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2743200" y="128016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tx2"/>
                </a:solidFill>
              </a:rPr>
              <a:t>8</a:t>
            </a:r>
            <a:endParaRPr lang="en-US" sz="4400" dirty="0"/>
          </a:p>
        </p:txBody>
      </p:sp>
      <p:sp>
        <p:nvSpPr>
          <p:cNvPr id="8" name="Text 6"/>
          <p:cNvSpPr txBox="1"/>
          <p:nvPr/>
        </p:nvSpPr>
        <p:spPr>
          <a:xfrm>
            <a:off x="2743200" y="205740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Modules, basics to capstone</a:t>
            </a:r>
            <a:endParaRPr lang="en-US" sz="1400" dirty="0"/>
          </a:p>
        </p:txBody>
      </p:sp>
      <p:sp>
        <p:nvSpPr>
          <p:cNvPr id="9" name="stat2"/>
          <p:cNvSpPr/>
          <p:nvPr/>
        </p:nvSpPr>
        <p:spPr>
          <a:xfrm>
            <a:off x="4663440" y="1188720"/>
            <a:ext cx="192024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4846320" y="128016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tx2"/>
                </a:solidFill>
              </a:rPr>
              <a:t>O</a:t>
            </a:r>
            <a:endParaRPr lang="en-US" sz="4400" dirty="0"/>
          </a:p>
        </p:txBody>
      </p:sp>
      <p:sp>
        <p:nvSpPr>
          <p:cNvPr id="11" name="Text 9"/>
          <p:cNvSpPr txBox="1"/>
          <p:nvPr/>
        </p:nvSpPr>
        <p:spPr>
          <a:xfrm>
            <a:off x="4846320" y="205740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Outstanding final grade</a:t>
            </a:r>
            <a:endParaRPr lang="en-US" sz="1400" dirty="0"/>
          </a:p>
        </p:txBody>
      </p:sp>
      <p:sp>
        <p:nvSpPr>
          <p:cNvPr id="12" name="stat3"/>
          <p:cNvSpPr/>
          <p:nvPr/>
        </p:nvSpPr>
        <p:spPr>
          <a:xfrm>
            <a:off x="6766560" y="1188720"/>
            <a:ext cx="192024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6949440" y="128016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Jul 28</a:t>
            </a:r>
            <a:endParaRPr lang="en-US" sz="3400" dirty="0"/>
          </a:p>
        </p:txBody>
      </p:sp>
      <p:sp>
        <p:nvSpPr>
          <p:cNvPr id="14" name="Text 12"/>
          <p:cNvSpPr txBox="1"/>
          <p:nvPr/>
        </p:nvSpPr>
        <p:spPr>
          <a:xfrm>
            <a:off x="6949440" y="205740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Certificate issued, 2026</a:t>
            </a:r>
            <a:endParaRPr lang="en-US" sz="1400" dirty="0"/>
          </a:p>
        </p:txBody>
      </p:sp>
      <p:sp>
        <p:nvSpPr>
          <p:cNvPr id="15" name="program"/>
          <p:cNvSpPr/>
          <p:nvPr/>
        </p:nvSpPr>
        <p:spPr>
          <a:xfrm>
            <a:off x="457200" y="2880360"/>
            <a:ext cx="4023360" cy="178308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685800" y="30175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The program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685800" y="3383280"/>
            <a:ext cx="3566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AICTE – EduSkills Virtual Internship, backed by the Ministry of Education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Domain: UI/UX Design &amp; Web Prototyping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Duration: June – August 2026</a:t>
            </a:r>
            <a:endParaRPr lang="en-US" sz="1400" dirty="0"/>
          </a:p>
        </p:txBody>
      </p:sp>
      <p:sp>
        <p:nvSpPr>
          <p:cNvPr id="18" name="assessment"/>
          <p:cNvSpPr/>
          <p:nvPr/>
        </p:nvSpPr>
        <p:spPr>
          <a:xfrm>
            <a:off x="4663440" y="2880360"/>
            <a:ext cx="4023360" cy="178308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4892040" y="30175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How it was assessed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4892040" y="3383280"/>
            <a:ext cx="3566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Weekly assessments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Project documentation and assignments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Final assessment test in Week 8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Week-by-week journey</a:t>
            </a:r>
            <a:endParaRPr lang="en-US" sz="3400" dirty="0"/>
          </a:p>
        </p:txBody>
      </p:sp>
      <p:sp>
        <p:nvSpPr>
          <p:cNvPr id="3" name="week1"/>
          <p:cNvSpPr/>
          <p:nvPr/>
        </p:nvSpPr>
        <p:spPr>
          <a:xfrm>
            <a:off x="457200" y="1188720"/>
            <a:ext cx="1920240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94360" y="1325880"/>
            <a:ext cx="411480" cy="41148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94360" y="13258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8288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Foundations &amp; Visual Design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233172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Design thinking, type, colour, layout</a:t>
            </a:r>
            <a:endParaRPr lang="en-US" sz="1100" dirty="0"/>
          </a:p>
        </p:txBody>
      </p:sp>
      <p:sp>
        <p:nvSpPr>
          <p:cNvPr id="8" name="week2"/>
          <p:cNvSpPr/>
          <p:nvPr/>
        </p:nvSpPr>
        <p:spPr>
          <a:xfrm>
            <a:off x="2560320" y="1188720"/>
            <a:ext cx="1920240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697480" y="1325880"/>
            <a:ext cx="411480" cy="41148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2697480" y="13258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2697480" y="18288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Figma &amp; User Research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2697480" y="233172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Figma basics, research, empathy</a:t>
            </a:r>
            <a:endParaRPr lang="en-US" sz="1100" dirty="0"/>
          </a:p>
        </p:txBody>
      </p:sp>
      <p:sp>
        <p:nvSpPr>
          <p:cNvPr id="13" name="week3"/>
          <p:cNvSpPr/>
          <p:nvPr/>
        </p:nvSpPr>
        <p:spPr>
          <a:xfrm>
            <a:off x="4663440" y="1188720"/>
            <a:ext cx="1920240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800600" y="1325880"/>
            <a:ext cx="411480" cy="41148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800600" y="13258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4800600" y="18288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IA &amp; Wireframing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4800600" y="233172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Content structure, flows, wireframes</a:t>
            </a:r>
            <a:endParaRPr lang="en-US" sz="1100" dirty="0"/>
          </a:p>
        </p:txBody>
      </p:sp>
      <p:sp>
        <p:nvSpPr>
          <p:cNvPr id="18" name="week4"/>
          <p:cNvSpPr/>
          <p:nvPr/>
        </p:nvSpPr>
        <p:spPr>
          <a:xfrm>
            <a:off x="6766560" y="1188720"/>
            <a:ext cx="1920240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903720" y="1325880"/>
            <a:ext cx="411480" cy="41148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903720" y="13258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6903720" y="18288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UI Design &amp; Prototyping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903720" y="233172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Polished UI, interactive prototypes</a:t>
            </a:r>
            <a:endParaRPr lang="en-US" sz="1100" dirty="0"/>
          </a:p>
        </p:txBody>
      </p:sp>
      <p:sp>
        <p:nvSpPr>
          <p:cNvPr id="23" name="week5"/>
          <p:cNvSpPr/>
          <p:nvPr/>
        </p:nvSpPr>
        <p:spPr>
          <a:xfrm>
            <a:off x="457200" y="2971800"/>
            <a:ext cx="1920240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94360" y="3108960"/>
            <a:ext cx="411480" cy="41148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594360" y="31089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594360" y="361188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Usability &amp; Design Systems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594360" y="411480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Testing, component libraries</a:t>
            </a:r>
            <a:endParaRPr lang="en-US" sz="1100" dirty="0"/>
          </a:p>
        </p:txBody>
      </p:sp>
      <p:sp>
        <p:nvSpPr>
          <p:cNvPr id="28" name="week6"/>
          <p:cNvSpPr/>
          <p:nvPr/>
        </p:nvSpPr>
        <p:spPr>
          <a:xfrm>
            <a:off x="2560320" y="2971800"/>
            <a:ext cx="1920240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2697480" y="3108960"/>
            <a:ext cx="411480" cy="41148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2697480" y="31089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6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2697480" y="361188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Accessibility &amp; Advanced Figma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2697480" y="411480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Inclusive design, pro workflows</a:t>
            </a:r>
            <a:endParaRPr lang="en-US" sz="1100" dirty="0"/>
          </a:p>
        </p:txBody>
      </p:sp>
      <p:sp>
        <p:nvSpPr>
          <p:cNvPr id="33" name="week7"/>
          <p:cNvSpPr/>
          <p:nvPr/>
        </p:nvSpPr>
        <p:spPr>
          <a:xfrm>
            <a:off x="4663440" y="2971800"/>
            <a:ext cx="1920240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800600" y="3108960"/>
            <a:ext cx="411480" cy="41148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4800600" y="31089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7</a:t>
            </a:r>
            <a:endParaRPr lang="en-US" sz="1600" dirty="0"/>
          </a:p>
        </p:txBody>
      </p:sp>
      <p:sp>
        <p:nvSpPr>
          <p:cNvPr id="36" name="Text 34"/>
          <p:cNvSpPr txBox="1"/>
          <p:nvPr/>
        </p:nvSpPr>
        <p:spPr>
          <a:xfrm>
            <a:off x="4800600" y="361188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Portfolio &amp; Career Prep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4800600" y="411480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Portfolio, industry workflows, careers</a:t>
            </a:r>
            <a:endParaRPr lang="en-US" sz="1100" dirty="0"/>
          </a:p>
        </p:txBody>
      </p:sp>
      <p:sp>
        <p:nvSpPr>
          <p:cNvPr id="38" name="week8"/>
          <p:cNvSpPr/>
          <p:nvPr/>
        </p:nvSpPr>
        <p:spPr>
          <a:xfrm>
            <a:off x="6766560" y="2971800"/>
            <a:ext cx="1920240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6903720" y="3108960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6903720" y="31089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8</a:t>
            </a:r>
            <a:endParaRPr lang="en-US" sz="1600" dirty="0"/>
          </a:p>
        </p:txBody>
      </p:sp>
      <p:sp>
        <p:nvSpPr>
          <p:cNvPr id="41" name="Text 39"/>
          <p:cNvSpPr txBox="1"/>
          <p:nvPr/>
        </p:nvSpPr>
        <p:spPr>
          <a:xfrm>
            <a:off x="6903720" y="361188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Animation, Branding &amp; Capstone</a:t>
            </a:r>
            <a:endParaRPr lang="en-US" sz="1400" dirty="0"/>
          </a:p>
        </p:txBody>
      </p:sp>
      <p:sp>
        <p:nvSpPr>
          <p:cNvPr id="42" name="Text 40"/>
          <p:cNvSpPr txBox="1"/>
          <p:nvPr/>
        </p:nvSpPr>
        <p:spPr>
          <a:xfrm>
            <a:off x="6903720" y="411480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Microinteractions, branding, capstone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Skills I developed</a:t>
            </a:r>
            <a:endParaRPr lang="en-US" sz="3400" dirty="0"/>
          </a:p>
        </p:txBody>
      </p:sp>
      <p:sp>
        <p:nvSpPr>
          <p:cNvPr id="3" name="skill0"/>
          <p:cNvSpPr/>
          <p:nvPr/>
        </p:nvSpPr>
        <p:spPr>
          <a:xfrm>
            <a:off x="457200" y="1234440"/>
            <a:ext cx="26517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0080" y="141732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4173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Visual design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01168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Typography, colour theory and layout principles</a:t>
            </a:r>
            <a:endParaRPr lang="en-US" sz="1400" dirty="0"/>
          </a:p>
        </p:txBody>
      </p:sp>
      <p:sp>
        <p:nvSpPr>
          <p:cNvPr id="8" name="skill1"/>
          <p:cNvSpPr/>
          <p:nvPr/>
        </p:nvSpPr>
        <p:spPr>
          <a:xfrm>
            <a:off x="3246120" y="1234440"/>
            <a:ext cx="26517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429000" y="1417320"/>
            <a:ext cx="457200" cy="45720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429000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4023360" y="14173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Figma proficiency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3429000" y="201168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From fundamentals to advanced workflows</a:t>
            </a:r>
            <a:endParaRPr lang="en-US" sz="1400" dirty="0"/>
          </a:p>
        </p:txBody>
      </p:sp>
      <p:sp>
        <p:nvSpPr>
          <p:cNvPr id="13" name="skill2"/>
          <p:cNvSpPr/>
          <p:nvPr/>
        </p:nvSpPr>
        <p:spPr>
          <a:xfrm>
            <a:off x="6035040" y="1234440"/>
            <a:ext cx="26517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217920" y="1417320"/>
            <a:ext cx="457200" cy="457200"/>
          </a:xfrm>
          <a:prstGeom prst="ellipse">
            <a:avLst/>
          </a:prstGeom>
          <a:solidFill>
            <a:schemeClr val="accent6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217920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6812280" y="14173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User research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217920" y="201168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Empathy-driven design decisions</a:t>
            </a:r>
            <a:endParaRPr lang="en-US" sz="1400" dirty="0"/>
          </a:p>
        </p:txBody>
      </p:sp>
      <p:sp>
        <p:nvSpPr>
          <p:cNvPr id="18" name="skill3"/>
          <p:cNvSpPr/>
          <p:nvPr/>
        </p:nvSpPr>
        <p:spPr>
          <a:xfrm>
            <a:off x="457200" y="2926080"/>
            <a:ext cx="26517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40080" y="310896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40080" y="3108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1234440" y="31089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Structure &amp; flows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370332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Information architecture, user flows, wireframes</a:t>
            </a:r>
            <a:endParaRPr lang="en-US" sz="1400" dirty="0"/>
          </a:p>
        </p:txBody>
      </p:sp>
      <p:sp>
        <p:nvSpPr>
          <p:cNvPr id="23" name="skill4"/>
          <p:cNvSpPr/>
          <p:nvPr/>
        </p:nvSpPr>
        <p:spPr>
          <a:xfrm>
            <a:off x="3246120" y="2926080"/>
            <a:ext cx="26517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429000" y="3108960"/>
            <a:ext cx="457200" cy="45720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3429000" y="3108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4023360" y="31089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Prototyping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3429000" y="370332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Interactive prototypes and interaction design</a:t>
            </a:r>
            <a:endParaRPr lang="en-US" sz="1400" dirty="0"/>
          </a:p>
        </p:txBody>
      </p:sp>
      <p:sp>
        <p:nvSpPr>
          <p:cNvPr id="28" name="skill5"/>
          <p:cNvSpPr/>
          <p:nvPr/>
        </p:nvSpPr>
        <p:spPr>
          <a:xfrm>
            <a:off x="6035040" y="2926080"/>
            <a:ext cx="26517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217920" y="3108960"/>
            <a:ext cx="457200" cy="457200"/>
          </a:xfrm>
          <a:prstGeom prst="ellipse">
            <a:avLst/>
          </a:prstGeom>
          <a:solidFill>
            <a:schemeClr val="accent6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6217920" y="3108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6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6812280" y="31089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Design systems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6217920" y="370332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Scalable component libraries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My design process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1143000" y="1783080"/>
            <a:ext cx="6858000" cy="0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dash"/>
          </a:ln>
        </p:spPr>
      </p:sp>
      <p:sp>
        <p:nvSpPr>
          <p:cNvPr id="4" name="Shape 2"/>
          <p:cNvSpPr/>
          <p:nvPr/>
        </p:nvSpPr>
        <p:spPr>
          <a:xfrm>
            <a:off x="822960" y="1463040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463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22402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Research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260604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Understand users and build empathy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194560" y="1463040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2194560" y="1463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2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1874520" y="22402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Structure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874520" y="260604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Organise content and user flows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566160" y="1463040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566160" y="1463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3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3246120" y="22402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Wireframe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3246120" y="260604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Plan layouts before polish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937760" y="1463040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937760" y="1463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4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4617720" y="22402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Design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4617720" y="260604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Craft polished interfaces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309360" y="1463040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309360" y="1463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5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5989320" y="22402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Prototype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5989320" y="260604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Build interactive flows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680960" y="146304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7680960" y="1463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6</a:t>
            </a:r>
            <a:endParaRPr lang="en-US" sz="2000" dirty="0"/>
          </a:p>
        </p:txBody>
      </p:sp>
      <p:sp>
        <p:nvSpPr>
          <p:cNvPr id="26" name="Text 24"/>
          <p:cNvSpPr txBox="1"/>
          <p:nvPr/>
        </p:nvSpPr>
        <p:spPr>
          <a:xfrm>
            <a:off x="7360920" y="22402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Test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7360920" y="260604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Validate, learn, iterate</a:t>
            </a:r>
            <a:endParaRPr lang="en-US" sz="1200" dirty="0"/>
          </a:p>
        </p:txBody>
      </p:sp>
      <p:sp>
        <p:nvSpPr>
          <p:cNvPr id="28" name="callout"/>
          <p:cNvSpPr/>
          <p:nvPr/>
        </p:nvSpPr>
        <p:spPr>
          <a:xfrm>
            <a:off x="457200" y="3611880"/>
            <a:ext cx="8229600" cy="1005840"/>
          </a:xfrm>
          <a:prstGeom prst="roundRect">
            <a:avLst>
              <a:gd name="adj" fmla="val 10909"/>
            </a:avLst>
          </a:prstGeom>
          <a:solidFill>
            <a:schemeClr val="tx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 txBox="1"/>
          <p:nvPr/>
        </p:nvSpPr>
        <p:spPr>
          <a:xfrm>
            <a:off x="731520" y="3611880"/>
            <a:ext cx="7680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Every design decision traces back to a real user need, then gets tested and refined.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Going beyond the basics</a:t>
            </a:r>
            <a:endParaRPr lang="en-US" sz="3400" dirty="0"/>
          </a:p>
        </p:txBody>
      </p:sp>
      <p:sp>
        <p:nvSpPr>
          <p:cNvPr id="3" name="left"/>
          <p:cNvSpPr/>
          <p:nvPr/>
        </p:nvSpPr>
        <p:spPr>
          <a:xfrm>
            <a:off x="457200" y="1188720"/>
            <a:ext cx="4023360" cy="3474720"/>
          </a:xfrm>
          <a:prstGeom prst="roundRect">
            <a:avLst>
              <a:gd name="adj" fmla="val 3158"/>
            </a:avLst>
          </a:prstGeom>
          <a:solidFill>
            <a:schemeClr val="tx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31520" y="146304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1463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A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10312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Inclusive &amp; efficient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651760"/>
            <a:ext cx="3474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Accessibility: designing inclusive experiences for diverse users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Advanced Figma workflows and productivity features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Reusable components that keep files scalable</a:t>
            </a:r>
            <a:endParaRPr lang="en-US" sz="1500" dirty="0"/>
          </a:p>
        </p:txBody>
      </p:sp>
      <p:sp>
        <p:nvSpPr>
          <p:cNvPr id="8" name="right"/>
          <p:cNvSpPr/>
          <p:nvPr/>
        </p:nvSpPr>
        <p:spPr>
          <a:xfrm>
            <a:off x="4663440" y="1188720"/>
            <a:ext cx="4023360" cy="3474720"/>
          </a:xfrm>
          <a:prstGeom prst="roundRect">
            <a:avLst>
              <a:gd name="adj" fmla="val 3158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937760" y="1463040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937760" y="1463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B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4937760" y="210312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Polished &amp; branded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4937760" y="2651760"/>
            <a:ext cx="3474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Microinteractions and UI animation that guide users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Branding principles for a consistent identity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Advanced visual design techniques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Capstone &amp; portfolio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234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123444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Define the problem and the users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210312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57200" y="2103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188720" y="210312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Map flows and wireframes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297180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57200" y="2971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188720" y="297180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Design high-fidelity UI and prototype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57200" y="384048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57200" y="3840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4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188720" y="384048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Test, refine and present</a:t>
            </a:r>
            <a:endParaRPr lang="en-US" sz="1600" dirty="0"/>
          </a:p>
        </p:txBody>
      </p:sp>
      <p:sp>
        <p:nvSpPr>
          <p:cNvPr id="15" name="portfolio"/>
          <p:cNvSpPr/>
          <p:nvPr/>
        </p:nvSpPr>
        <p:spPr>
          <a:xfrm>
            <a:off x="5029200" y="1188720"/>
            <a:ext cx="3657600" cy="3474720"/>
          </a:xfrm>
          <a:prstGeom prst="roundRect">
            <a:avLst>
              <a:gd name="adj" fmla="val 3158"/>
            </a:avLst>
          </a:prstGeom>
          <a:solidFill>
            <a:schemeClr val="tx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5303520" y="146304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From practice to portfolio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5303520" y="2286000"/>
            <a:ext cx="31089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Week 7 focused on building a professional portfolio and understanding industry workflows and career paths.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Week 8's capstone then applied the full process to one complete digital product.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Key takeaways</a:t>
            </a:r>
            <a:endParaRPr lang="en-US" sz="3400" dirty="0"/>
          </a:p>
        </p:txBody>
      </p:sp>
      <p:sp>
        <p:nvSpPr>
          <p:cNvPr id="3" name="take0"/>
          <p:cNvSpPr/>
          <p:nvPr/>
        </p:nvSpPr>
        <p:spPr>
          <a:xfrm>
            <a:off x="457200" y="1188720"/>
            <a:ext cx="8229600" cy="1051560"/>
          </a:xfrm>
          <a:prstGeom prst="roundRect">
            <a:avLst>
              <a:gd name="adj" fmla="val 10435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31520" y="1417320"/>
            <a:ext cx="594360" cy="59436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14173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600200" y="132588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Design starts with people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600200" y="1755648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Research and empathy shape structure, flows and visual choices.</a:t>
            </a:r>
            <a:endParaRPr lang="en-US" sz="1400" dirty="0"/>
          </a:p>
        </p:txBody>
      </p:sp>
      <p:sp>
        <p:nvSpPr>
          <p:cNvPr id="8" name="take1"/>
          <p:cNvSpPr/>
          <p:nvPr/>
        </p:nvSpPr>
        <p:spPr>
          <a:xfrm>
            <a:off x="457200" y="2377440"/>
            <a:ext cx="8229600" cy="1051560"/>
          </a:xfrm>
          <a:prstGeom prst="roundRect">
            <a:avLst>
              <a:gd name="adj" fmla="val 10435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31520" y="2606040"/>
            <a:ext cx="594360" cy="59436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31520" y="26060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2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1600200" y="251460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Systems make design scale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1600200" y="2944368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Components and design systems keep interfaces consistent and fast to iterate.</a:t>
            </a:r>
            <a:endParaRPr lang="en-US" sz="1400" dirty="0"/>
          </a:p>
        </p:txBody>
      </p:sp>
      <p:sp>
        <p:nvSpPr>
          <p:cNvPr id="13" name="take2"/>
          <p:cNvSpPr/>
          <p:nvPr/>
        </p:nvSpPr>
        <p:spPr>
          <a:xfrm>
            <a:off x="457200" y="3566160"/>
            <a:ext cx="8229600" cy="1051560"/>
          </a:xfrm>
          <a:prstGeom prst="roundRect">
            <a:avLst>
              <a:gd name="adj" fmla="val 10435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31520" y="3794760"/>
            <a:ext cx="594360" cy="594360"/>
          </a:xfrm>
          <a:prstGeom prst="ellipse">
            <a:avLst/>
          </a:prstGeom>
          <a:solidFill>
            <a:schemeClr val="accent6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31520" y="37947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3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1600200" y="370332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Good design is inclusive and iterative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1600200" y="4133088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Accessibility and usability testing turn first drafts into better products.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137160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Thank you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4688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Burramukku Varun Sai Reddy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97180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IILM University, Greater Noida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AICTE – EduSkills Virtual Internship, 2026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Certificate ID: 2026-F5A2F7C190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943600" y="1005840"/>
            <a:ext cx="2743200" cy="2743200"/>
          </a:xfrm>
          <a:prstGeom prst="ellipse">
            <a:avLst/>
          </a:prstGeom>
          <a:solidFill>
            <a:schemeClr val="accent2">
              <a:alpha val="85000"/>
            </a:schemeClr>
          </a:solidFill>
          <a:ln/>
        </p:spPr>
      </p:sp>
      <p:sp>
        <p:nvSpPr>
          <p:cNvPr id="6" name="Shape 4"/>
          <p:cNvSpPr/>
          <p:nvPr/>
        </p:nvSpPr>
        <p:spPr>
          <a:xfrm>
            <a:off x="7498080" y="3291840"/>
            <a:ext cx="1188720" cy="11887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0" y="457200"/>
            <a:ext cx="1005840" cy="1005840"/>
          </a:xfrm>
          <a:prstGeom prst="ellipse">
            <a:avLst/>
          </a:prstGeom>
          <a:solidFill>
            <a:schemeClr val="accent3">
              <a:alpha val="80000"/>
            </a:schemeClr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943600" y="1005840"/>
            <a:ext cx="27432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Questions?</a:t>
            </a:r>
            <a:endParaRPr lang="en-US"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nternship Report">
  <a:themeElements>
    <a:clrScheme name="Internship Report">
      <a:dk1>
        <a:srgbClr val="1B1B1B"/>
      </a:dk1>
      <a:lt1>
        <a:srgbClr val="FFFFFF"/>
      </a:lt1>
      <a:dk2>
        <a:srgbClr val="0B2A5B"/>
      </a:dk2>
      <a:lt2>
        <a:srgbClr val="EEF3FA"/>
      </a:lt2>
      <a:accent1>
        <a:srgbClr val="F28C28"/>
      </a:accent1>
      <a:accent2>
        <a:srgbClr val="1C7293"/>
      </a:accent2>
      <a:accent3>
        <a:srgbClr val="2E6FD8"/>
      </a:accent3>
      <a:accent4>
        <a:srgbClr val="5B6B8C"/>
      </a:accent4>
      <a:accent5>
        <a:srgbClr val="E4572E"/>
      </a:accent5>
      <a:accent6>
        <a:srgbClr val="3FA796"/>
      </a:accent6>
      <a:hlink>
        <a:srgbClr val="2E6FD8"/>
      </a:hlink>
      <a:folHlink>
        <a:srgbClr val="5B6B8C"/>
      </a:folHlink>
    </a:clrScheme>
    <a:fontScheme name="Internship Report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Professional UI/UX Design &amp; Web Prototyping - Internship Presentation</dc:title>
  <dc:subject>PptxGenJS Presentation</dc:subject>
  <dc:creator>Burramukku Varun Sai Reddy</dc:creator>
  <cp:lastModifiedBy>Burramukku Varun Sai Reddy</cp:lastModifiedBy>
  <cp:revision>1</cp:revision>
  <dcterms:created xsi:type="dcterms:W3CDTF">2026-10-21T15:40:45Z</dcterms:created>
  <dcterms:modified xsi:type="dcterms:W3CDTF">2026-10-21T15:40:45Z</dcterms:modified>
</cp:coreProperties>
</file>